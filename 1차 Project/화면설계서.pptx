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3" r:id="rId2"/>
    <p:sldId id="260" r:id="rId3"/>
    <p:sldId id="262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970973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867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60329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7490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1874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732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1460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599472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929953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695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948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82C58AD-CF18-4E0A-BA93-5DDE63BFD59F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ED09481-3521-455D-A1DB-1C84F9B1700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098244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4C6F726-890C-4237-86AF-8F370EE57126}"/>
              </a:ext>
            </a:extLst>
          </p:cNvPr>
          <p:cNvSpPr/>
          <p:nvPr/>
        </p:nvSpPr>
        <p:spPr>
          <a:xfrm>
            <a:off x="481853" y="1982450"/>
            <a:ext cx="1198132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28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1</a:t>
            </a:r>
            <a:r>
              <a:rPr lang="ko-KR" altLang="en-US" sz="28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차 </a:t>
            </a:r>
            <a:r>
              <a:rPr lang="en-US" altLang="ko-KR" sz="28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Project</a:t>
            </a:r>
            <a:endParaRPr lang="ko-KR" altLang="en-US" sz="2800" b="1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sz="3000" b="1" dirty="0">
              <a:solidFill>
                <a:srgbClr val="0070C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r>
              <a:rPr lang="ko-KR" altLang="en-US" sz="3000" b="1" dirty="0">
                <a:solidFill>
                  <a:srgbClr val="002060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 미세먼지 안전 지도</a:t>
            </a:r>
            <a:endParaRPr lang="en-US" altLang="ko-KR" sz="3000" b="1" dirty="0">
              <a:solidFill>
                <a:srgbClr val="002060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846CA-ECBE-41A0-BFEC-548E758D6B7C}"/>
              </a:ext>
            </a:extLst>
          </p:cNvPr>
          <p:cNvSpPr txBox="1"/>
          <p:nvPr/>
        </p:nvSpPr>
        <p:spPr>
          <a:xfrm>
            <a:off x="9529482" y="4437529"/>
            <a:ext cx="2052918" cy="858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26.03.16</a:t>
            </a:r>
          </a:p>
          <a:p>
            <a:pPr algn="ctr">
              <a:lnSpc>
                <a:spcPct val="150000"/>
              </a:lnSpc>
            </a:pP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4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조 박영훈</a:t>
            </a:r>
          </a:p>
        </p:txBody>
      </p:sp>
    </p:spTree>
    <p:extLst>
      <p:ext uri="{BB962C8B-B14F-4D97-AF65-F5344CB8AC3E}">
        <p14:creationId xmlns:p14="http://schemas.microsoft.com/office/powerpoint/2010/main" val="1945484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0A5FC2-5553-495F-837A-0438E0B56725}"/>
              </a:ext>
            </a:extLst>
          </p:cNvPr>
          <p:cNvSpPr txBox="1"/>
          <p:nvPr/>
        </p:nvSpPr>
        <p:spPr>
          <a:xfrm>
            <a:off x="900953" y="517274"/>
            <a:ext cx="110669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서울 지도 기반 서비스 프로세스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2F2B82-7B97-4ED3-B186-F79E130990D7}"/>
              </a:ext>
            </a:extLst>
          </p:cNvPr>
          <p:cNvSpPr txBox="1"/>
          <p:nvPr/>
        </p:nvSpPr>
        <p:spPr>
          <a:xfrm>
            <a:off x="900953" y="1411941"/>
            <a:ext cx="1153309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서울시 지도를 통해 직관적으로 </a:t>
            </a:r>
            <a:r>
              <a:rPr lang="ko-KR" altLang="en-US" sz="1600" b="1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미세먼지 위험도를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볼 수 있고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도시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(OO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구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선택 시 상세 분석 해주는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416898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0A5FC2-5553-495F-837A-0438E0B56725}"/>
              </a:ext>
            </a:extLst>
          </p:cNvPr>
          <p:cNvSpPr txBox="1"/>
          <p:nvPr/>
        </p:nvSpPr>
        <p:spPr>
          <a:xfrm>
            <a:off x="806822" y="497541"/>
            <a:ext cx="110669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시스템 아키텍처 및 데이터 흐름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2F2B82-7B97-4ED3-B186-F79E130990D7}"/>
              </a:ext>
            </a:extLst>
          </p:cNvPr>
          <p:cNvSpPr txBox="1"/>
          <p:nvPr/>
        </p:nvSpPr>
        <p:spPr>
          <a:xfrm>
            <a:off x="806822" y="1452282"/>
            <a:ext cx="115330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Flask 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기반의 </a:t>
            </a:r>
            <a:r>
              <a:rPr lang="ko-KR" altLang="en-US" dirty="0" err="1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머신러닝</a:t>
            </a:r>
            <a:r>
              <a:rPr lang="ko-KR" altLang="en-US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서빙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924572C-8C34-49E9-9A8D-CC794794120E}"/>
              </a:ext>
            </a:extLst>
          </p:cNvPr>
          <p:cNvSpPr/>
          <p:nvPr/>
        </p:nvSpPr>
        <p:spPr>
          <a:xfrm>
            <a:off x="1092199" y="5100948"/>
            <a:ext cx="2667000" cy="1240721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Frontend </a:t>
            </a:r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상세 정보</a:t>
            </a:r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HTML5 + Folium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지도</a:t>
            </a:r>
            <a:endParaRPr lang="en-US" altLang="ko-KR" sz="1400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+ Leaflet.js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5FF1319-89B7-4CBD-B777-5F01036CD0D9}"/>
              </a:ext>
            </a:extLst>
          </p:cNvPr>
          <p:cNvSpPr/>
          <p:nvPr/>
        </p:nvSpPr>
        <p:spPr>
          <a:xfrm>
            <a:off x="5149475" y="2756648"/>
            <a:ext cx="2667000" cy="3227294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Backend</a:t>
            </a: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Flask (Python)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/>
            <a:endParaRPr lang="en-US" altLang="ko-KR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3D982B4-D60E-4DA3-A998-94BA3CA73638}"/>
              </a:ext>
            </a:extLst>
          </p:cNvPr>
          <p:cNvSpPr/>
          <p:nvPr/>
        </p:nvSpPr>
        <p:spPr>
          <a:xfrm>
            <a:off x="9206751" y="2756648"/>
            <a:ext cx="2667000" cy="3227294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solidFill>
                  <a:schemeClr val="tx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ML Model</a:t>
            </a: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ML Model + DB</a:t>
            </a:r>
            <a:endParaRPr lang="ko-KR" altLang="en-US" sz="1400" dirty="0">
              <a:solidFill>
                <a:schemeClr val="bg1">
                  <a:lumMod val="50000"/>
                </a:scheme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ABBB6BE-FA5B-4DA3-9316-9FCB0339639A}"/>
              </a:ext>
            </a:extLst>
          </p:cNvPr>
          <p:cNvGrpSpPr/>
          <p:nvPr/>
        </p:nvGrpSpPr>
        <p:grpSpPr>
          <a:xfrm>
            <a:off x="3916828" y="4358643"/>
            <a:ext cx="1075017" cy="1115185"/>
            <a:chOff x="3540312" y="3824354"/>
            <a:chExt cx="1075017" cy="1115185"/>
          </a:xfrm>
        </p:grpSpPr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D218FC3F-46A1-4176-871C-A4A22DE1359F}"/>
                </a:ext>
              </a:extLst>
            </p:cNvPr>
            <p:cNvCxnSpPr/>
            <p:nvPr/>
          </p:nvCxnSpPr>
          <p:spPr>
            <a:xfrm>
              <a:off x="3734920" y="4195483"/>
              <a:ext cx="6858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8D2B45-7773-4120-B5F7-154C0618065A}"/>
                </a:ext>
              </a:extLst>
            </p:cNvPr>
            <p:cNvSpPr txBox="1"/>
            <p:nvPr/>
          </p:nvSpPr>
          <p:spPr>
            <a:xfrm>
              <a:off x="3540312" y="3824354"/>
              <a:ext cx="10750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Request</a:t>
              </a:r>
              <a:endPara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endParaRPr>
            </a:p>
          </p:txBody>
        </p: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D6A84AE6-12AD-4B2C-AC64-06F0D2461F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9621" y="4370295"/>
              <a:ext cx="72109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2B7EFE1-0BBA-4FAF-973D-49BB3EA2FEA5}"/>
                </a:ext>
              </a:extLst>
            </p:cNvPr>
            <p:cNvSpPr txBox="1"/>
            <p:nvPr/>
          </p:nvSpPr>
          <p:spPr>
            <a:xfrm>
              <a:off x="3540312" y="4477874"/>
              <a:ext cx="10750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Response</a:t>
              </a:r>
            </a:p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JSON Data</a:t>
              </a:r>
              <a:endPara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endParaRP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53A5D99-D809-4EE3-B146-770912CCD9E5}"/>
              </a:ext>
            </a:extLst>
          </p:cNvPr>
          <p:cNvGrpSpPr/>
          <p:nvPr/>
        </p:nvGrpSpPr>
        <p:grpSpPr>
          <a:xfrm>
            <a:off x="7974104" y="3435311"/>
            <a:ext cx="1075017" cy="1307910"/>
            <a:chOff x="3540312" y="3446963"/>
            <a:chExt cx="1075017" cy="1307910"/>
          </a:xfrm>
        </p:grpSpPr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74C450A2-C877-4BCC-B0FE-73282877CB3C}"/>
                </a:ext>
              </a:extLst>
            </p:cNvPr>
            <p:cNvCxnSpPr/>
            <p:nvPr/>
          </p:nvCxnSpPr>
          <p:spPr>
            <a:xfrm>
              <a:off x="3734920" y="4195483"/>
              <a:ext cx="68580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261E007-C584-4016-96F6-54DD1039E2BA}"/>
                </a:ext>
              </a:extLst>
            </p:cNvPr>
            <p:cNvSpPr txBox="1"/>
            <p:nvPr/>
          </p:nvSpPr>
          <p:spPr>
            <a:xfrm>
              <a:off x="3540312" y="3446963"/>
              <a:ext cx="10750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Input</a:t>
              </a:r>
            </a:p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Feature</a:t>
              </a:r>
            </a:p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Vector</a:t>
              </a:r>
              <a:endPara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endParaRPr>
            </a:p>
          </p:txBody>
        </p: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C7DDAACC-3C36-4D84-8F29-628422C58D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9621" y="4370295"/>
              <a:ext cx="721099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2B3F666-23DE-45EE-B447-C5F7AB572552}"/>
                </a:ext>
              </a:extLst>
            </p:cNvPr>
            <p:cNvSpPr txBox="1"/>
            <p:nvPr/>
          </p:nvSpPr>
          <p:spPr>
            <a:xfrm>
              <a:off x="3540312" y="4477874"/>
              <a:ext cx="107501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dirty="0">
                  <a:latin typeface="HY견고딕" panose="02030600000101010101" pitchFamily="18" charset="-127"/>
                  <a:ea typeface="HY견고딕" panose="02030600000101010101" pitchFamily="18" charset="-127"/>
                </a:rPr>
                <a:t>Result</a:t>
              </a:r>
            </a:p>
          </p:txBody>
        </p:sp>
      </p:grp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5CFA433-78D1-4253-83F0-980B6AB3938D}"/>
              </a:ext>
            </a:extLst>
          </p:cNvPr>
          <p:cNvSpPr/>
          <p:nvPr/>
        </p:nvSpPr>
        <p:spPr>
          <a:xfrm>
            <a:off x="1074456" y="3653142"/>
            <a:ext cx="2667000" cy="1240721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Frontend </a:t>
            </a:r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ko-KR" altLang="en-US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메인</a:t>
            </a:r>
            <a:r>
              <a:rPr lang="en-US" altLang="ko-KR" sz="1400" dirty="0"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</a:p>
          <a:p>
            <a:pPr algn="ctr">
              <a:lnSpc>
                <a:spcPct val="150000"/>
              </a:lnSpc>
            </a:pP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HTML5 + Folium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지도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E3A7A0BE-EA07-4B1B-BED8-6712B6675C96}"/>
              </a:ext>
            </a:extLst>
          </p:cNvPr>
          <p:cNvSpPr/>
          <p:nvPr/>
        </p:nvSpPr>
        <p:spPr>
          <a:xfrm>
            <a:off x="1070160" y="2205336"/>
            <a:ext cx="2667000" cy="1240721"/>
          </a:xfrm>
          <a:prstGeom prst="roundRect">
            <a:avLst/>
          </a:prstGeom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User</a:t>
            </a: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BB4804F-C324-4A4A-A654-6A7544A6B6A7}"/>
              </a:ext>
            </a:extLst>
          </p:cNvPr>
          <p:cNvCxnSpPr>
            <a:cxnSpLocks/>
          </p:cNvCxnSpPr>
          <p:nvPr/>
        </p:nvCxnSpPr>
        <p:spPr>
          <a:xfrm>
            <a:off x="2296083" y="3124644"/>
            <a:ext cx="0" cy="64282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9CE50C94-03B0-42FB-9721-00DA1792AF99}"/>
              </a:ext>
            </a:extLst>
          </p:cNvPr>
          <p:cNvCxnSpPr>
            <a:cxnSpLocks/>
          </p:cNvCxnSpPr>
          <p:nvPr/>
        </p:nvCxnSpPr>
        <p:spPr>
          <a:xfrm flipV="1">
            <a:off x="2565025" y="3124644"/>
            <a:ext cx="0" cy="63383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연결선: 구부러짐 37">
            <a:extLst>
              <a:ext uri="{FF2B5EF4-FFF2-40B4-BE49-F238E27FC236}">
                <a16:creationId xmlns:a16="http://schemas.microsoft.com/office/drawing/2014/main" id="{BC6B7277-B439-450F-A128-02B77E048F68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222932" y="2832004"/>
            <a:ext cx="22039" cy="2895612"/>
          </a:xfrm>
          <a:prstGeom prst="curvedConnector3">
            <a:avLst>
              <a:gd name="adj1" fmla="val -1037252"/>
            </a:avLst>
          </a:prstGeom>
          <a:ln w="19050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4840708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자르기</Template>
  <TotalTime>1885</TotalTime>
  <Words>89</Words>
  <Application>Microsoft Office PowerPoint</Application>
  <PresentationFormat>와이드스크린</PresentationFormat>
  <Paragraphs>26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HY견고딕</vt:lpstr>
      <vt:lpstr>돋움</vt:lpstr>
      <vt:lpstr>Franklin Gothic Book</vt:lpstr>
      <vt:lpstr>자르기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itbank403_15</dc:creator>
  <cp:lastModifiedBy>itbank403_15</cp:lastModifiedBy>
  <cp:revision>96</cp:revision>
  <dcterms:created xsi:type="dcterms:W3CDTF">2026-03-11T01:16:02Z</dcterms:created>
  <dcterms:modified xsi:type="dcterms:W3CDTF">2026-03-18T05:29:47Z</dcterms:modified>
</cp:coreProperties>
</file>