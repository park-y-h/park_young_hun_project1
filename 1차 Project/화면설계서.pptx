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61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10D8B2-179B-4FF2-9A2D-E21E6CD08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128C69-4048-41F0-804B-3B6A5B74F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550D1-3217-4B83-9E5F-13076528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A7F5D7-58E3-4E3F-8322-9E0790B87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0187EE-CBDD-476F-9E03-64E1E047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94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57899-53F1-4ACB-92C9-F5400EDA8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1334FB-D1CD-4AD6-B29C-9F29BF4DC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87CC56-CF80-4DD7-9307-A3B845736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18BF84-FAA8-4946-9AAC-BF9F3148B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8E2576-E3AA-4C01-8FFB-F63F82A3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924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DCCCB-18EA-4AA8-9207-7577D185A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5AAA95-5374-4392-B096-3DEDE15B5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9D760D-C07D-4AB5-87C1-9C66608D3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21E924-4BE9-4E54-AC09-C6E5C102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08F936-DA47-46DF-8E0A-254E4140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101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6E1B2-36C0-45B1-9DB1-A7B76D3E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18AEF7-1467-4F61-B274-75E1DC281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CF30C9-2E4F-4167-86C5-9335C5A3A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5EC8C-95D0-4674-A012-F21FDA04F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DEA968-C30E-4E33-B715-6A3DA7175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7E148A-AE51-4412-81FF-8F591697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35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CF478-3377-41D4-B075-52A3DC97C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409584-2E5E-4024-B199-B23EFC4D1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D03BAA-352A-4BC7-B266-C25B2B00D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0B15E2-00A7-47B9-A67C-7E7FB461F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0377C7-F722-44A9-A56C-E45DE40CB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FEC0C99-F176-4761-AD0E-8AA131CC4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D105690-8934-4086-BE6F-D331FBC0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9C632B-4221-46F1-BFEF-DA911E62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50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B0F69-9370-4D7B-9AF7-D193D84B0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87659B-C2D2-4F1F-B8A5-A125D2000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1B466A-8DF5-437C-A081-6CA11BAA7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7AD0D7-F57A-4304-A54F-62EDB858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89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667006-0FCF-4FCA-A0F9-1B5FE91E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D1E5B5-DEC5-4486-8BE2-324E36A0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B5A746-F31E-4877-BD05-1FD840059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07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2FF53B-AE62-45FE-8A78-0B6BE043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A11D20-5644-4CF3-8BD7-8A4E42076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FFFC03-290E-4B61-A462-24ED884BC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FAA82C-2856-420A-B442-99544AFCA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64E34E-D091-4B1D-A1A3-A63DB045F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9E4F39-22FF-4C93-A238-470C8F56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0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3592FF-EDB1-4377-A0D3-F3942136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B4FD757-957A-4848-8191-BC5D4C0CB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C78F43-4F52-48C0-8E10-0931EF211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1AE36C-CC0F-4613-A6C3-0F91861FA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E680F7-2D31-42A2-9339-CBE645CB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BF75B0-23D2-4BA7-AB43-CF17870D1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813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E6BEB-2A2E-4BDC-85E1-2588A235E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8B1E9F-9418-41C6-A574-F5B1E7FB5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F7C8B6-2557-4121-A1BB-F2D729E05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EA2381-511D-4F48-AD37-3E2C06EB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3850F-BCA8-43C0-A847-D66F6DDE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029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DDFE8D-83E4-49D0-A673-5F0CBCB27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9CE70D-AD94-483A-B581-DF23FEBDB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121EB9-8C74-4487-BD85-8809D8251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C8CE-4707-4412-9195-9C9BB49B9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43DE1E-6B98-4C5B-B50C-7738ADC1F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475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AAAA9D0-6A38-4CEA-8C71-259443A71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F6D985-AA5A-4A73-999E-6D8993807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65D0DE-C08A-48D9-92DA-956F2F035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C58AD-CF18-4E0A-BA93-5DDE63BFD59F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9DC61E-D59A-42BA-A14D-DA30D927F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4061A1-AA05-4CB9-94ED-676D2B0C9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09481-3521-455D-A1DB-1C84F9B17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23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81F5A15-11EF-45C6-99BA-ABD6E7E3E231}"/>
              </a:ext>
            </a:extLst>
          </p:cNvPr>
          <p:cNvSpPr/>
          <p:nvPr/>
        </p:nvSpPr>
        <p:spPr>
          <a:xfrm>
            <a:off x="105335" y="1994647"/>
            <a:ext cx="1198132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r>
              <a:rPr lang="ko-KR" altLang="en-US" sz="2800" b="1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차 </a:t>
            </a:r>
            <a:r>
              <a:rPr lang="en-US" altLang="ko-KR" sz="2800" b="1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Project</a:t>
            </a:r>
            <a:endParaRPr lang="ko-KR" altLang="en-US" sz="2800" b="1" dirty="0">
              <a:solidFill>
                <a:schemeClr val="bg1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endParaRPr lang="en-US" altLang="ko-KR" sz="3000" b="1" dirty="0">
              <a:solidFill>
                <a:srgbClr val="0070C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r>
              <a:rPr lang="ko-KR" altLang="en-US" sz="3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서울 도시 미세먼지 위험 등급 지도</a:t>
            </a:r>
            <a:endParaRPr lang="en-US" altLang="ko-KR" sz="3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0F0257-39AA-4FBC-9110-477FCC8C5B56}"/>
              </a:ext>
            </a:extLst>
          </p:cNvPr>
          <p:cNvSpPr txBox="1"/>
          <p:nvPr/>
        </p:nvSpPr>
        <p:spPr>
          <a:xfrm>
            <a:off x="7866529" y="4715435"/>
            <a:ext cx="33348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2026.03.16</a:t>
            </a:r>
          </a:p>
          <a:p>
            <a:pPr algn="ctr"/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조 박영훈</a:t>
            </a:r>
          </a:p>
        </p:txBody>
      </p:sp>
    </p:spTree>
    <p:extLst>
      <p:ext uri="{BB962C8B-B14F-4D97-AF65-F5344CB8AC3E}">
        <p14:creationId xmlns:p14="http://schemas.microsoft.com/office/powerpoint/2010/main" val="348867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0A5FC2-5553-495F-837A-0438E0B56725}"/>
              </a:ext>
            </a:extLst>
          </p:cNvPr>
          <p:cNvSpPr txBox="1"/>
          <p:nvPr/>
        </p:nvSpPr>
        <p:spPr>
          <a:xfrm>
            <a:off x="430306" y="497541"/>
            <a:ext cx="11066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서울 지도 기반 서비스 프로세스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2F2B82-7B97-4ED3-B186-F79E130990D7}"/>
              </a:ext>
            </a:extLst>
          </p:cNvPr>
          <p:cNvSpPr txBox="1"/>
          <p:nvPr/>
        </p:nvSpPr>
        <p:spPr>
          <a:xfrm>
            <a:off x="430306" y="1452282"/>
            <a:ext cx="11533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서울시 지도를 통해 직관적으로 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미세먼지 위험도를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볼 수 있고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도시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(OO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구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선택 시 상세 분석 해주는 서비스 제공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924572C-8C34-49E9-9A8D-CC794794120E}"/>
              </a:ext>
            </a:extLst>
          </p:cNvPr>
          <p:cNvSpPr/>
          <p:nvPr/>
        </p:nvSpPr>
        <p:spPr>
          <a:xfrm>
            <a:off x="715683" y="2756648"/>
            <a:ext cx="2667000" cy="322729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00B05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서울시 지도 로딩</a:t>
            </a:r>
            <a:endParaRPr lang="en-US" altLang="ko-KR" sz="2000" b="1" dirty="0">
              <a:solidFill>
                <a:srgbClr val="00B05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endParaRPr lang="en-US" altLang="ko-KR" b="1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사용자 접속 시</a:t>
            </a:r>
            <a:endParaRPr lang="en-US" altLang="ko-KR" sz="16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서울시 전체 위험도</a:t>
            </a:r>
            <a:endParaRPr lang="en-US" altLang="ko-KR" sz="16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지도 위 시각화</a:t>
            </a:r>
            <a:endParaRPr lang="en-US" altLang="ko-KR" sz="16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5FF1319-89B7-4CBD-B777-5F01036CD0D9}"/>
              </a:ext>
            </a:extLst>
          </p:cNvPr>
          <p:cNvSpPr/>
          <p:nvPr/>
        </p:nvSpPr>
        <p:spPr>
          <a:xfrm>
            <a:off x="4772959" y="2756648"/>
            <a:ext cx="2667000" cy="322729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자치구 선택</a:t>
            </a:r>
            <a:endParaRPr lang="en-US" altLang="ko-KR" sz="2000" b="1" dirty="0">
              <a:solidFill>
                <a:srgbClr val="0070C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endParaRPr lang="en-US" altLang="ko-KR"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관심 있는 도시 클릭</a:t>
            </a:r>
            <a:endParaRPr lang="en-US" altLang="ko-KR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위험도 상세 정보 제공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3D982B4-D60E-4DA3-A998-94BA3CA73638}"/>
              </a:ext>
            </a:extLst>
          </p:cNvPr>
          <p:cNvSpPr/>
          <p:nvPr/>
        </p:nvSpPr>
        <p:spPr>
          <a:xfrm>
            <a:off x="8830235" y="2756648"/>
            <a:ext cx="2667000" cy="322729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rgbClr val="7030A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상세 분석 패널</a:t>
            </a:r>
            <a:endParaRPr lang="en-US" altLang="ko-KR" sz="2000" b="1" dirty="0">
              <a:solidFill>
                <a:srgbClr val="7030A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endParaRPr lang="en-US" altLang="ko-KR" sz="2000" b="1" dirty="0">
              <a:solidFill>
                <a:srgbClr val="7030A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모델이 예측한 위험등급</a:t>
            </a:r>
            <a:r>
              <a:rPr lang="en-US" altLang="ko-KR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주요 원인 기여도 표시</a:t>
            </a:r>
            <a:endParaRPr lang="ko-KR" altLang="en-US" sz="2000" dirty="0">
              <a:solidFill>
                <a:srgbClr val="7030A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6898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FA2AC4-D60C-4E5A-AEFF-F2EA794F9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15" y="2407023"/>
            <a:ext cx="4229100" cy="3781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E854EE-2933-4B72-AEFE-F24F36814BF3}"/>
              </a:ext>
            </a:extLst>
          </p:cNvPr>
          <p:cNvSpPr txBox="1"/>
          <p:nvPr/>
        </p:nvSpPr>
        <p:spPr>
          <a:xfrm>
            <a:off x="430306" y="497541"/>
            <a:ext cx="11066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서울 미세먼지 위험도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DCF66-DF4D-4640-ADF9-88437A4BA973}"/>
              </a:ext>
            </a:extLst>
          </p:cNvPr>
          <p:cNvSpPr txBox="1"/>
          <p:nvPr/>
        </p:nvSpPr>
        <p:spPr>
          <a:xfrm>
            <a:off x="430306" y="1452282"/>
            <a:ext cx="11533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각 도시 위험도를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단계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안전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보통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민감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고위험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로 분류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지도 위 시각화 하여 직관적으로 안전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~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고위험 식별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15D0910-5772-4277-A4CB-DA8D7159888D}"/>
              </a:ext>
            </a:extLst>
          </p:cNvPr>
          <p:cNvSpPr/>
          <p:nvPr/>
        </p:nvSpPr>
        <p:spPr>
          <a:xfrm>
            <a:off x="5963770" y="2675964"/>
            <a:ext cx="4095750" cy="2985247"/>
          </a:xfrm>
          <a:prstGeom prst="round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위험도 등급</a:t>
            </a:r>
            <a:endParaRPr lang="en-US" altLang="ko-KR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Tx/>
              <a:buChar char="-"/>
            </a:pP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안전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보통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민감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고위험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FE4D000-061E-4EE1-87EF-4F3F573D5DAA}"/>
              </a:ext>
            </a:extLst>
          </p:cNvPr>
          <p:cNvSpPr/>
          <p:nvPr/>
        </p:nvSpPr>
        <p:spPr>
          <a:xfrm>
            <a:off x="7544920" y="3462616"/>
            <a:ext cx="295835" cy="33617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88576EB-9CAF-4C92-8E65-0581886D0E81}"/>
              </a:ext>
            </a:extLst>
          </p:cNvPr>
          <p:cNvSpPr/>
          <p:nvPr/>
        </p:nvSpPr>
        <p:spPr>
          <a:xfrm>
            <a:off x="7544919" y="4000498"/>
            <a:ext cx="295835" cy="33617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B24CC9C-1251-4996-9A80-A0D6814BD81A}"/>
              </a:ext>
            </a:extLst>
          </p:cNvPr>
          <p:cNvSpPr/>
          <p:nvPr/>
        </p:nvSpPr>
        <p:spPr>
          <a:xfrm>
            <a:off x="7544918" y="4538380"/>
            <a:ext cx="295835" cy="33617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2B35B3F-866F-401E-A648-676179471FC9}"/>
              </a:ext>
            </a:extLst>
          </p:cNvPr>
          <p:cNvSpPr/>
          <p:nvPr/>
        </p:nvSpPr>
        <p:spPr>
          <a:xfrm>
            <a:off x="7544917" y="5076262"/>
            <a:ext cx="295835" cy="33617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70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E854EE-2933-4B72-AEFE-F24F36814BF3}"/>
              </a:ext>
            </a:extLst>
          </p:cNvPr>
          <p:cNvSpPr txBox="1"/>
          <p:nvPr/>
        </p:nvSpPr>
        <p:spPr>
          <a:xfrm>
            <a:off x="430306" y="497541"/>
            <a:ext cx="11066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서울 자치구 상세 정보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DCF66-DF4D-4640-ADF9-88437A4BA973}"/>
              </a:ext>
            </a:extLst>
          </p:cNvPr>
          <p:cNvSpPr txBox="1"/>
          <p:nvPr/>
        </p:nvSpPr>
        <p:spPr>
          <a:xfrm>
            <a:off x="430306" y="1452282"/>
            <a:ext cx="11533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관심있는 도시 클릭 시 모델의 등급 기여도를 분석하여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도시 위험 등급 및 주요 원인 제공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15D0910-5772-4277-A4CB-DA8D7159888D}"/>
              </a:ext>
            </a:extLst>
          </p:cNvPr>
          <p:cNvSpPr/>
          <p:nvPr/>
        </p:nvSpPr>
        <p:spPr>
          <a:xfrm>
            <a:off x="7194177" y="935442"/>
            <a:ext cx="4095750" cy="4987116"/>
          </a:xfrm>
          <a:prstGeom prst="round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solidFill>
                  <a:srgbClr val="FFC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민감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 단계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8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도봉구의 대기 환경과 인프라를 분석했을 때</a:t>
            </a:r>
            <a:r>
              <a:rPr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미세먼지 위험도는 </a:t>
            </a:r>
            <a:r>
              <a:rPr lang="ko-KR" altLang="en-US" sz="1400" b="1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민감</a:t>
            </a:r>
            <a:r>
              <a:rPr lang="ko-KR" altLang="en-US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상태로 건강 주의가 필요한 상태입니다</a:t>
            </a:r>
            <a:r>
              <a:rPr lang="en-US" altLang="ko-KR" sz="1400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06BA45-F1C5-4F45-BC9B-634BF600F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09" y="2098613"/>
            <a:ext cx="6980968" cy="466613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004114-9159-4594-9915-CF96377325E2}"/>
              </a:ext>
            </a:extLst>
          </p:cNvPr>
          <p:cNvSpPr/>
          <p:nvPr/>
        </p:nvSpPr>
        <p:spPr>
          <a:xfrm>
            <a:off x="430306" y="2326340"/>
            <a:ext cx="1775012" cy="6463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지역 선택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F13A683-B433-4D2B-B1BB-82003EF8DF18}"/>
              </a:ext>
            </a:extLst>
          </p:cNvPr>
          <p:cNvSpPr/>
          <p:nvPr/>
        </p:nvSpPr>
        <p:spPr>
          <a:xfrm>
            <a:off x="7640731" y="3227294"/>
            <a:ext cx="3170704" cy="4572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위험 요인 기여도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13B7BF-553A-44E7-8996-5E22063F53BC}"/>
              </a:ext>
            </a:extLst>
          </p:cNvPr>
          <p:cNvSpPr txBox="1"/>
          <p:nvPr/>
        </p:nvSpPr>
        <p:spPr>
          <a:xfrm>
            <a:off x="7640731" y="4074459"/>
            <a:ext cx="31707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미세먼지</a:t>
            </a:r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		40%</a:t>
            </a:r>
          </a:p>
          <a:p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의료시설 부족</a:t>
            </a:r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	20%</a:t>
            </a:r>
          </a:p>
          <a:p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고령인구 비율</a:t>
            </a:r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	15%</a:t>
            </a:r>
          </a:p>
          <a:p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	.	.</a:t>
            </a:r>
          </a:p>
          <a:p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	.	.</a:t>
            </a:r>
          </a:p>
          <a:p>
            <a:r>
              <a:rPr lang="en-US" altLang="ko-KR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	.	.</a:t>
            </a:r>
            <a:endParaRPr lang="ko-KR" altLang="en-US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6306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0A5FC2-5553-495F-837A-0438E0B56725}"/>
              </a:ext>
            </a:extLst>
          </p:cNvPr>
          <p:cNvSpPr txBox="1"/>
          <p:nvPr/>
        </p:nvSpPr>
        <p:spPr>
          <a:xfrm>
            <a:off x="430306" y="497541"/>
            <a:ext cx="11066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시스템 아키텍처 및 데이터 흐름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2F2B82-7B97-4ED3-B186-F79E130990D7}"/>
              </a:ext>
            </a:extLst>
          </p:cNvPr>
          <p:cNvSpPr txBox="1"/>
          <p:nvPr/>
        </p:nvSpPr>
        <p:spPr>
          <a:xfrm>
            <a:off x="430306" y="1452282"/>
            <a:ext cx="11533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Flask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기반의 </a:t>
            </a:r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머신러닝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서빙 구조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924572C-8C34-49E9-9A8D-CC794794120E}"/>
              </a:ext>
            </a:extLst>
          </p:cNvPr>
          <p:cNvSpPr/>
          <p:nvPr/>
        </p:nvSpPr>
        <p:spPr>
          <a:xfrm>
            <a:off x="715683" y="5100948"/>
            <a:ext cx="2667000" cy="1240721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Frontend </a:t>
            </a: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상세 정보</a:t>
            </a: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HTML5 + Folium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지도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+ Leaflet.js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5FF1319-89B7-4CBD-B777-5F01036CD0D9}"/>
              </a:ext>
            </a:extLst>
          </p:cNvPr>
          <p:cNvSpPr/>
          <p:nvPr/>
        </p:nvSpPr>
        <p:spPr>
          <a:xfrm>
            <a:off x="4772959" y="2756648"/>
            <a:ext cx="2667000" cy="3227294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Backend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Flask (Python)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3D982B4-D60E-4DA3-A998-94BA3CA73638}"/>
              </a:ext>
            </a:extLst>
          </p:cNvPr>
          <p:cNvSpPr/>
          <p:nvPr/>
        </p:nvSpPr>
        <p:spPr>
          <a:xfrm>
            <a:off x="8830235" y="2756648"/>
            <a:ext cx="2667000" cy="3227294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ML Model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ML Model + DB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ABBB6BE-FA5B-4DA3-9316-9FCB0339639A}"/>
              </a:ext>
            </a:extLst>
          </p:cNvPr>
          <p:cNvGrpSpPr/>
          <p:nvPr/>
        </p:nvGrpSpPr>
        <p:grpSpPr>
          <a:xfrm>
            <a:off x="3540312" y="4358643"/>
            <a:ext cx="1075017" cy="1115185"/>
            <a:chOff x="3540312" y="3824354"/>
            <a:chExt cx="1075017" cy="1115185"/>
          </a:xfrm>
        </p:grpSpPr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D218FC3F-46A1-4176-871C-A4A22DE1359F}"/>
                </a:ext>
              </a:extLst>
            </p:cNvPr>
            <p:cNvCxnSpPr/>
            <p:nvPr/>
          </p:nvCxnSpPr>
          <p:spPr>
            <a:xfrm>
              <a:off x="3734920" y="4195483"/>
              <a:ext cx="6858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8D2B45-7773-4120-B5F7-154C0618065A}"/>
                </a:ext>
              </a:extLst>
            </p:cNvPr>
            <p:cNvSpPr txBox="1"/>
            <p:nvPr/>
          </p:nvSpPr>
          <p:spPr>
            <a:xfrm>
              <a:off x="3540312" y="3824354"/>
              <a:ext cx="10750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Request</a:t>
              </a:r>
              <a:endPara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D6A84AE6-12AD-4B2C-AC64-06F0D2461F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9621" y="4370295"/>
              <a:ext cx="72109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2B7EFE1-0BBA-4FAF-973D-49BB3EA2FEA5}"/>
                </a:ext>
              </a:extLst>
            </p:cNvPr>
            <p:cNvSpPr txBox="1"/>
            <p:nvPr/>
          </p:nvSpPr>
          <p:spPr>
            <a:xfrm>
              <a:off x="3540312" y="4477874"/>
              <a:ext cx="10750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Response</a:t>
              </a:r>
            </a:p>
            <a:p>
              <a:pPr algn="ctr"/>
              <a:r>
                <a:rPr lang="en-US" altLang="ko-KR" sz="1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JSON Data</a:t>
              </a:r>
              <a:endPara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53A5D99-D809-4EE3-B146-770912CCD9E5}"/>
              </a:ext>
            </a:extLst>
          </p:cNvPr>
          <p:cNvGrpSpPr/>
          <p:nvPr/>
        </p:nvGrpSpPr>
        <p:grpSpPr>
          <a:xfrm>
            <a:off x="7597588" y="3435311"/>
            <a:ext cx="1075017" cy="1307910"/>
            <a:chOff x="3540312" y="3446963"/>
            <a:chExt cx="1075017" cy="1307910"/>
          </a:xfrm>
        </p:grpSpPr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4C450A2-C877-4BCC-B0FE-73282877CB3C}"/>
                </a:ext>
              </a:extLst>
            </p:cNvPr>
            <p:cNvCxnSpPr/>
            <p:nvPr/>
          </p:nvCxnSpPr>
          <p:spPr>
            <a:xfrm>
              <a:off x="3734920" y="4195483"/>
              <a:ext cx="6858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261E007-C584-4016-96F6-54DD1039E2BA}"/>
                </a:ext>
              </a:extLst>
            </p:cNvPr>
            <p:cNvSpPr txBox="1"/>
            <p:nvPr/>
          </p:nvSpPr>
          <p:spPr>
            <a:xfrm>
              <a:off x="3540312" y="3446963"/>
              <a:ext cx="10750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Input</a:t>
              </a:r>
            </a:p>
            <a:p>
              <a:pPr algn="ctr"/>
              <a:r>
                <a:rPr lang="en-US" altLang="ko-KR" sz="1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Feature</a:t>
              </a:r>
            </a:p>
            <a:p>
              <a:pPr algn="ctr"/>
              <a:r>
                <a:rPr lang="en-US" altLang="ko-KR" sz="1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Vector</a:t>
              </a:r>
              <a:endPara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C7DDAACC-3C36-4D84-8F29-628422C58D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9621" y="4370295"/>
              <a:ext cx="72109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2B3F666-23DE-45EE-B447-C5F7AB572552}"/>
                </a:ext>
              </a:extLst>
            </p:cNvPr>
            <p:cNvSpPr txBox="1"/>
            <p:nvPr/>
          </p:nvSpPr>
          <p:spPr>
            <a:xfrm>
              <a:off x="3540312" y="4477874"/>
              <a:ext cx="10750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Result</a:t>
              </a:r>
            </a:p>
          </p:txBody>
        </p:sp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5CFA433-78D1-4253-83F0-980B6AB3938D}"/>
              </a:ext>
            </a:extLst>
          </p:cNvPr>
          <p:cNvSpPr/>
          <p:nvPr/>
        </p:nvSpPr>
        <p:spPr>
          <a:xfrm>
            <a:off x="697940" y="3653142"/>
            <a:ext cx="2667000" cy="1240721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Frontend </a:t>
            </a: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4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메인화면</a:t>
            </a: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HTML5 + Folium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지도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3A7A0BE-EA07-4B1B-BED8-6712B6675C96}"/>
              </a:ext>
            </a:extLst>
          </p:cNvPr>
          <p:cNvSpPr/>
          <p:nvPr/>
        </p:nvSpPr>
        <p:spPr>
          <a:xfrm>
            <a:off x="693644" y="2205336"/>
            <a:ext cx="2667000" cy="1240721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User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BB4804F-C324-4A4A-A654-6A7544A6B6A7}"/>
              </a:ext>
            </a:extLst>
          </p:cNvPr>
          <p:cNvCxnSpPr>
            <a:cxnSpLocks/>
          </p:cNvCxnSpPr>
          <p:nvPr/>
        </p:nvCxnSpPr>
        <p:spPr>
          <a:xfrm>
            <a:off x="1919567" y="3124644"/>
            <a:ext cx="0" cy="6428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CE50C94-03B0-42FB-9721-00DA1792AF99}"/>
              </a:ext>
            </a:extLst>
          </p:cNvPr>
          <p:cNvCxnSpPr>
            <a:cxnSpLocks/>
          </p:cNvCxnSpPr>
          <p:nvPr/>
        </p:nvCxnSpPr>
        <p:spPr>
          <a:xfrm flipV="1">
            <a:off x="2188509" y="3124644"/>
            <a:ext cx="0" cy="6338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BC6B7277-B439-450F-A128-02B77E048F68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846416" y="2832004"/>
            <a:ext cx="22039" cy="2895612"/>
          </a:xfrm>
          <a:prstGeom prst="curvedConnector3">
            <a:avLst>
              <a:gd name="adj1" fmla="val -1037252"/>
            </a:avLst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840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TM03457464[[fn=분할]]</Template>
  <TotalTime>1685</TotalTime>
  <Words>231</Words>
  <Application>Microsoft Office PowerPoint</Application>
  <PresentationFormat>와이드스크린</PresentationFormat>
  <Paragraphs>67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HY견고딕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itbank403_15</dc:creator>
  <cp:lastModifiedBy>itbank403_15</cp:lastModifiedBy>
  <cp:revision>92</cp:revision>
  <dcterms:created xsi:type="dcterms:W3CDTF">2026-03-11T01:16:02Z</dcterms:created>
  <dcterms:modified xsi:type="dcterms:W3CDTF">2026-03-17T04:00:10Z</dcterms:modified>
</cp:coreProperties>
</file>