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8" r:id="rId3"/>
    <p:sldId id="260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10D8B2-179B-4FF2-9A2D-E21E6CD085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7128C69-4048-41F0-804B-3B6A5B74FF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5550D1-3217-4B83-9E5F-130765283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A7F5D7-58E3-4E3F-8322-9E0790B87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0187EE-CBDD-476F-9E03-64E1E047F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949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757899-53F1-4ACB-92C9-F5400EDA8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1334FB-D1CD-4AD6-B29C-9F29BF4DC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87CC56-CF80-4DD7-9307-A3B845736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18BF84-FAA8-4946-9AAC-BF9F3148B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8E2576-E3AA-4C01-8FFB-F63F82A36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924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DCCCB-18EA-4AA8-9207-7577D185A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5AAA95-5374-4392-B096-3DEDE15B5A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9D760D-C07D-4AB5-87C1-9C66608D3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21E924-4BE9-4E54-AC09-C6E5C1023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08F936-DA47-46DF-8E0A-254E4140A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101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66E1B2-36C0-45B1-9DB1-A7B76D3EF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18AEF7-1467-4F61-B274-75E1DC281A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CF30C9-2E4F-4167-86C5-9335C5A3A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C5EC8C-95D0-4674-A012-F21FDA04F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FDEA968-C30E-4E33-B715-6A3DA7175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57E148A-AE51-4412-81FF-8F5916978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351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CF478-3377-41D4-B075-52A3DC97C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8409584-2E5E-4024-B199-B23EFC4D1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D03BAA-352A-4BC7-B266-C25B2B00D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0B15E2-00A7-47B9-A67C-7E7FB461FF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A0377C7-F722-44A9-A56C-E45DE40CB3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FEC0C99-F176-4761-AD0E-8AA131CC4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D105690-8934-4086-BE6F-D331FBC09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59C632B-4221-46F1-BFEF-DA911E627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0506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6B0F69-9370-4D7B-9AF7-D193D84B0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E87659B-C2D2-4F1F-B8A5-A125D2000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F1B466A-8DF5-437C-A081-6CA11BAA7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B7AD0D7-F57A-4304-A54F-62EDB8588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896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A667006-0FCF-4FCA-A0F9-1B5FE91E1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DD1E5B5-DEC5-4486-8BE2-324E36A04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B5A746-F31E-4877-BD05-1FD840059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0771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2FF53B-AE62-45FE-8A78-0B6BE043A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A11D20-5644-4CF3-8BD7-8A4E42076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DFFFC03-290E-4B61-A462-24ED884BC0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FAA82C-2856-420A-B442-99544AFCA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B64E34E-D091-4B1D-A1A3-A63DB045F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69E4F39-22FF-4C93-A238-470C8F568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02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3592FF-EDB1-4377-A0D3-F39421364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B4FD757-957A-4848-8191-BC5D4C0CB8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DC78F43-4F52-48C0-8E10-0931EF2110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1AE36C-CC0F-4613-A6C3-0F91861FA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E680F7-2D31-42A2-9339-CBE645CBA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BF75B0-23D2-4BA7-AB43-CF17870D1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813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8E6BEB-2A2E-4BDC-85E1-2588A235E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8B1E9F-9418-41C6-A574-F5B1E7FB54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F7C8B6-2557-4121-A1BB-F2D729E053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EA2381-511D-4F48-AD37-3E2C06EBF5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E3850F-BCA8-43C0-A847-D66F6DDEC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2029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0DDFE8D-83E4-49D0-A673-5F0CBCB270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59CE70D-AD94-483A-B581-DF23FEBDB1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121EB9-8C74-4487-BD85-8809D8251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CAFC8CE-4707-4412-9195-9C9BB49B9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443DE1E-6B98-4C5B-B50C-7738ADC1F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2475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AAAA9D0-6A38-4CEA-8C71-259443A71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6F6D985-AA5A-4A73-999E-6D8993807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65D0DE-C08A-48D9-92DA-956F2F0359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9DC61E-D59A-42BA-A14D-DA30D927F5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4061A1-AA05-4CB9-94ED-676D2B0C9C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7234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9299E8-3B74-4803-A003-33B3CD27C3F7}"/>
              </a:ext>
            </a:extLst>
          </p:cNvPr>
          <p:cNvSpPr txBox="1"/>
          <p:nvPr/>
        </p:nvSpPr>
        <p:spPr>
          <a:xfrm>
            <a:off x="1819835" y="2034772"/>
            <a:ext cx="8552330" cy="13942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6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</a:t>
            </a:r>
            <a:r>
              <a:rPr lang="ko-KR" altLang="en-US" sz="26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차 </a:t>
            </a:r>
            <a:r>
              <a:rPr lang="en-US" altLang="ko-KR" sz="26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Project</a:t>
            </a:r>
          </a:p>
          <a:p>
            <a:pPr algn="ctr">
              <a:lnSpc>
                <a:spcPct val="150000"/>
              </a:lnSpc>
            </a:pPr>
            <a:r>
              <a:rPr lang="ko-KR" altLang="en-US" sz="36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개발 기획서</a:t>
            </a:r>
          </a:p>
        </p:txBody>
      </p:sp>
    </p:spTree>
    <p:extLst>
      <p:ext uri="{BB962C8B-B14F-4D97-AF65-F5344CB8AC3E}">
        <p14:creationId xmlns:p14="http://schemas.microsoft.com/office/powerpoint/2010/main" val="1945484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A6562A-BC7B-439E-8184-F5D82C0A4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57602CD-DA65-42FB-B785-6A5F85DEB6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63" y="542319"/>
            <a:ext cx="149912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400" b="1" u="sng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기획 의도</a:t>
            </a:r>
            <a:endParaRPr kumimoji="0" lang="ko-KR" altLang="ko-KR" sz="1600" b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732A60-BC9A-4421-BD0A-8D6AA9A24E65}"/>
              </a:ext>
            </a:extLst>
          </p:cNvPr>
          <p:cNvSpPr txBox="1"/>
          <p:nvPr/>
        </p:nvSpPr>
        <p:spPr>
          <a:xfrm>
            <a:off x="243959" y="2737467"/>
            <a:ext cx="5432612" cy="8976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호흡기 자극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폐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ko-KR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기능 저하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천식 등 질병유발</a:t>
            </a:r>
          </a:p>
          <a:p>
            <a:pPr algn="ctr">
              <a:lnSpc>
                <a:spcPct val="150000"/>
              </a:lnSpc>
            </a:pPr>
            <a:r>
              <a:rPr lang="ko-KR" altLang="en-US" sz="2000" b="1" dirty="0" err="1">
                <a:solidFill>
                  <a:schemeClr val="accent2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도시별</a:t>
            </a:r>
            <a:r>
              <a:rPr lang="ko-KR" altLang="en-US" sz="2000" b="1" dirty="0">
                <a:solidFill>
                  <a:schemeClr val="accent2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위험도 등급 산출</a:t>
            </a:r>
            <a:r>
              <a:rPr lang="en-US" altLang="ko-KR" sz="2000" b="1" dirty="0">
                <a:solidFill>
                  <a:schemeClr val="accent2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  <a:r>
              <a:rPr lang="ko-KR" altLang="en-US" sz="2000" b="1" dirty="0">
                <a:solidFill>
                  <a:schemeClr val="accent2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피해 대응 강화 </a:t>
            </a:r>
            <a:endParaRPr lang="ko-KR" altLang="ko-KR" sz="2000" b="1" dirty="0">
              <a:solidFill>
                <a:schemeClr val="accent2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5F1726-02DC-4830-9F13-0492EE7D705F}"/>
              </a:ext>
            </a:extLst>
          </p:cNvPr>
          <p:cNvSpPr txBox="1"/>
          <p:nvPr/>
        </p:nvSpPr>
        <p:spPr>
          <a:xfrm>
            <a:off x="835631" y="1314081"/>
            <a:ext cx="4249271" cy="461665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lstStyle/>
          <a:p>
            <a:pPr algn="ctr"/>
            <a:r>
              <a:rPr lang="ko-KR" altLang="ko-KR" sz="2400" b="1" dirty="0">
                <a:solidFill>
                  <a:srgbClr val="7030A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미세먼지 피해</a:t>
            </a:r>
            <a:endParaRPr lang="ko-KR" altLang="ko-KR" sz="2400" b="1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AAB9DC53-3916-481C-B791-529AB0D44EE8}"/>
              </a:ext>
            </a:extLst>
          </p:cNvPr>
          <p:cNvSpPr/>
          <p:nvPr/>
        </p:nvSpPr>
        <p:spPr>
          <a:xfrm>
            <a:off x="2592713" y="2073566"/>
            <a:ext cx="735110" cy="531781"/>
          </a:xfrm>
          <a:prstGeom prst="downArrow">
            <a:avLst/>
          </a:prstGeom>
          <a:solidFill>
            <a:schemeClr val="bg1"/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C91D125-5E4D-4D96-A82D-EA932E0D97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280" y="3937722"/>
            <a:ext cx="4621970" cy="177907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71D721-DB11-4705-AE3C-0970417CDEC7}"/>
              </a:ext>
            </a:extLst>
          </p:cNvPr>
          <p:cNvSpPr txBox="1"/>
          <p:nvPr/>
        </p:nvSpPr>
        <p:spPr>
          <a:xfrm>
            <a:off x="7003356" y="1314081"/>
            <a:ext cx="4249271" cy="461665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lstStyle/>
          <a:p>
            <a:pPr algn="ctr"/>
            <a:r>
              <a:rPr lang="ko-KR" altLang="en-US" sz="2400" b="1" dirty="0" err="1">
                <a:solidFill>
                  <a:srgbClr val="7030A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도시별</a:t>
            </a:r>
            <a:r>
              <a:rPr lang="ko-KR" altLang="en-US" sz="2400" b="1" dirty="0">
                <a:solidFill>
                  <a:srgbClr val="7030A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 위험도 등급</a:t>
            </a:r>
            <a:endParaRPr lang="ko-KR" altLang="ko-KR" sz="2400" b="1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B1E525C0-CC45-4488-83AF-DEB372AFFD82}"/>
              </a:ext>
            </a:extLst>
          </p:cNvPr>
          <p:cNvSpPr/>
          <p:nvPr/>
        </p:nvSpPr>
        <p:spPr>
          <a:xfrm>
            <a:off x="8760437" y="2073565"/>
            <a:ext cx="735110" cy="531781"/>
          </a:xfrm>
          <a:prstGeom prst="downArrow">
            <a:avLst/>
          </a:prstGeom>
          <a:solidFill>
            <a:schemeClr val="bg1"/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7DC73F4-C300-43B7-BD0A-EF835E572323}"/>
              </a:ext>
            </a:extLst>
          </p:cNvPr>
          <p:cNvSpPr txBox="1"/>
          <p:nvPr/>
        </p:nvSpPr>
        <p:spPr>
          <a:xfrm>
            <a:off x="6411689" y="2734109"/>
            <a:ext cx="5432612" cy="482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000" b="1" dirty="0">
                <a:solidFill>
                  <a:srgbClr val="00B05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위험도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단계 등급으로 분류</a:t>
            </a:r>
            <a:endParaRPr lang="en-US" altLang="ko-KR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0" name="화살표: 오른쪽 39">
            <a:extLst>
              <a:ext uri="{FF2B5EF4-FFF2-40B4-BE49-F238E27FC236}">
                <a16:creationId xmlns:a16="http://schemas.microsoft.com/office/drawing/2014/main" id="{6C3B2438-E66A-4375-A1E9-5B58F322753F}"/>
              </a:ext>
            </a:extLst>
          </p:cNvPr>
          <p:cNvSpPr/>
          <p:nvPr/>
        </p:nvSpPr>
        <p:spPr>
          <a:xfrm>
            <a:off x="6763229" y="3508156"/>
            <a:ext cx="1129555" cy="859127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5">
                    <a:lumMod val="75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안전</a:t>
            </a:r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461AA091-C5E9-42E5-85EC-E306F65F8504}"/>
              </a:ext>
            </a:extLst>
          </p:cNvPr>
          <p:cNvSpPr/>
          <p:nvPr/>
        </p:nvSpPr>
        <p:spPr>
          <a:xfrm>
            <a:off x="8063111" y="3508158"/>
            <a:ext cx="1129555" cy="859127"/>
          </a:xfrm>
          <a:prstGeom prst="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6">
                    <a:lumMod val="75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보통</a:t>
            </a:r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BCBDF495-08C7-41FA-97E4-C2B3BAF4B232}"/>
              </a:ext>
            </a:extLst>
          </p:cNvPr>
          <p:cNvSpPr/>
          <p:nvPr/>
        </p:nvSpPr>
        <p:spPr>
          <a:xfrm>
            <a:off x="9362993" y="3508158"/>
            <a:ext cx="1129555" cy="859127"/>
          </a:xfrm>
          <a:prstGeom prst="rightArrow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4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민감</a:t>
            </a:r>
          </a:p>
        </p:txBody>
      </p:sp>
      <p:sp>
        <p:nvSpPr>
          <p:cNvPr id="43" name="화살표: 오른쪽 42">
            <a:extLst>
              <a:ext uri="{FF2B5EF4-FFF2-40B4-BE49-F238E27FC236}">
                <a16:creationId xmlns:a16="http://schemas.microsoft.com/office/drawing/2014/main" id="{D608E677-4135-43AE-8792-83691A2549B1}"/>
              </a:ext>
            </a:extLst>
          </p:cNvPr>
          <p:cNvSpPr/>
          <p:nvPr/>
        </p:nvSpPr>
        <p:spPr>
          <a:xfrm>
            <a:off x="10662875" y="3508156"/>
            <a:ext cx="1129555" cy="85912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rgbClr val="C0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고위험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1C1945-7F36-4FEB-8056-E7DD9FFBF5DC}"/>
              </a:ext>
            </a:extLst>
          </p:cNvPr>
          <p:cNvSpPr txBox="1"/>
          <p:nvPr/>
        </p:nvSpPr>
        <p:spPr>
          <a:xfrm>
            <a:off x="7261133" y="4793469"/>
            <a:ext cx="3733715" cy="13203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위험 도시 의료지원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시설 보강 등 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2000" b="1" dirty="0">
                <a:solidFill>
                  <a:schemeClr val="accent2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정책 수립 의견에 도움</a:t>
            </a:r>
            <a:endParaRPr lang="en-US" altLang="ko-KR" sz="2000" b="1" dirty="0">
              <a:solidFill>
                <a:schemeClr val="accent2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0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6">
            <a:extLst>
              <a:ext uri="{FF2B5EF4-FFF2-40B4-BE49-F238E27FC236}">
                <a16:creationId xmlns:a16="http://schemas.microsoft.com/office/drawing/2014/main" id="{5D3E7357-E088-4D6A-9AF0-F6C1040142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204" y="257351"/>
            <a:ext cx="149912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400" b="1" u="sng" dirty="0">
                <a:solidFill>
                  <a:srgbClr val="00B050"/>
                </a:solidFill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개발 목표</a:t>
            </a:r>
            <a:endParaRPr kumimoji="0" lang="ko-KR" altLang="ko-KR" sz="1600" b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A943F-DD1B-4A05-9D13-7FE5F7D2563D}"/>
              </a:ext>
            </a:extLst>
          </p:cNvPr>
          <p:cNvSpPr txBox="1"/>
          <p:nvPr/>
        </p:nvSpPr>
        <p:spPr>
          <a:xfrm>
            <a:off x="210204" y="653917"/>
            <a:ext cx="9502588" cy="1142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2400" b="1" dirty="0">
                <a:solidFill>
                  <a:srgbClr val="0070C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 미세먼지 피해 위험도 등급 분류</a:t>
            </a:r>
            <a:endParaRPr lang="en-US" altLang="ko-KR" sz="2400" b="1" dirty="0">
              <a:solidFill>
                <a:srgbClr val="0070C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각 도시별로 미세먼지 피해 위험 등급을 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단계로 예측하고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위험도 지도를 출력하는 프로그램을 개발</a:t>
            </a: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8F4857A-787C-4FD3-B197-FB989FC643A7}"/>
              </a:ext>
            </a:extLst>
          </p:cNvPr>
          <p:cNvSpPr/>
          <p:nvPr/>
        </p:nvSpPr>
        <p:spPr>
          <a:xfrm>
            <a:off x="273423" y="2140693"/>
            <a:ext cx="1810871" cy="1891553"/>
          </a:xfrm>
          <a:prstGeom prst="round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600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데이터 확보</a:t>
            </a:r>
            <a:endParaRPr lang="en-US" altLang="ko-KR" sz="1600" b="1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공공데이터 포털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일일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PM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농도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환자 데이터 등 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수집 및 정제</a:t>
            </a:r>
            <a:endParaRPr lang="ko-KR" altLang="en-US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ko-KR" altLang="en-US" sz="14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C082D9C-8B5F-4178-83D3-49034A091030}"/>
              </a:ext>
            </a:extLst>
          </p:cNvPr>
          <p:cNvSpPr/>
          <p:nvPr/>
        </p:nvSpPr>
        <p:spPr>
          <a:xfrm>
            <a:off x="5190565" y="2097986"/>
            <a:ext cx="1810871" cy="1891553"/>
          </a:xfrm>
          <a:prstGeom prst="round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600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분류 모델 개발</a:t>
            </a:r>
            <a:endParaRPr lang="en-US" altLang="ko-KR" sz="1600" b="1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일일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PM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농도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기온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인프라 등 변수를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입력 값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(feature)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설정 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100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76A2622D-143B-4591-BA5A-FFE6B7056217}"/>
              </a:ext>
            </a:extLst>
          </p:cNvPr>
          <p:cNvSpPr/>
          <p:nvPr/>
        </p:nvSpPr>
        <p:spPr>
          <a:xfrm>
            <a:off x="2731994" y="2096114"/>
            <a:ext cx="1810871" cy="1891553"/>
          </a:xfrm>
          <a:prstGeom prst="round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600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위험 등급 생성</a:t>
            </a:r>
            <a:endParaRPr lang="en-US" altLang="ko-KR" sz="1600" b="1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일일 환자 데이터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각 도시 인구수 결합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환자 발생률 산출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위험 등급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(4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단계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1F711FC-0AE9-4C14-8249-5B19DE635AD8}"/>
              </a:ext>
            </a:extLst>
          </p:cNvPr>
          <p:cNvSpPr/>
          <p:nvPr/>
        </p:nvSpPr>
        <p:spPr>
          <a:xfrm>
            <a:off x="7593779" y="2096114"/>
            <a:ext cx="1921584" cy="1891553"/>
          </a:xfrm>
          <a:prstGeom prst="round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600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변수 기여도 분석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위험 등급 분류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입력 변수 기여도 분석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도시별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주요 원인 식별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9D58216-9417-42F4-AA87-ECD01105299D}"/>
              </a:ext>
            </a:extLst>
          </p:cNvPr>
          <p:cNvSpPr/>
          <p:nvPr/>
        </p:nvSpPr>
        <p:spPr>
          <a:xfrm>
            <a:off x="10107706" y="2133233"/>
            <a:ext cx="1810871" cy="1891553"/>
          </a:xfrm>
          <a:prstGeom prst="roundRect">
            <a:avLst/>
          </a:prstGeom>
          <a:solidFill>
            <a:schemeClr val="bg1"/>
          </a:solidFill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600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웹 서비스</a:t>
            </a:r>
            <a:endParaRPr lang="en-US" altLang="ko-KR" sz="1600" b="1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지도 기반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지역별 위험도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시각화 출력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9B43D1C6-8EFF-4794-96F2-BB0F91406F96}"/>
              </a:ext>
            </a:extLst>
          </p:cNvPr>
          <p:cNvSpPr/>
          <p:nvPr/>
        </p:nvSpPr>
        <p:spPr>
          <a:xfrm>
            <a:off x="959768" y="4285115"/>
            <a:ext cx="4634753" cy="2271065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C0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b="1" dirty="0">
                <a:solidFill>
                  <a:srgbClr val="00B05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위험 등급 분류 모델</a:t>
            </a:r>
            <a:endParaRPr lang="en-US" altLang="ko-KR" b="1" dirty="0">
              <a:solidFill>
                <a:srgbClr val="00B05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500" b="1" dirty="0">
              <a:solidFill>
                <a:srgbClr val="00B05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알고리즘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: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랜덤 </a:t>
            </a:r>
            <a:r>
              <a:rPr lang="ko-KR" altLang="en-US" sz="1100" dirty="0" err="1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포레스트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(Random Forest),</a:t>
            </a:r>
            <a:r>
              <a:rPr lang="en-US" altLang="ko-KR" sz="1100" dirty="0" err="1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XGBoost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입력 값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: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일일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PM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농도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1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일전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PM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농도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2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일전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PM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농도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                </a:t>
            </a:r>
          </a:p>
          <a:p>
            <a:pPr>
              <a:lnSpc>
                <a:spcPct val="150000"/>
              </a:lnSpc>
            </a:pP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        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일 평균 기온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인프라 등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미세먼지 지연 효과 변수 적용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학습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: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환경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보건 데이터 기반으로 변수를 통한 위험 등급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  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결정 학습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4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단계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안전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보통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  <a:r>
              <a:rPr lang="ko-KR" altLang="en-US" sz="1100" dirty="0" err="1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민감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  <a:r>
              <a:rPr lang="ko-KR" altLang="en-US" sz="1100" dirty="0" err="1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고위험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로 분류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CAF8F21D-1DBD-4004-BE34-8AD536606CA6}"/>
              </a:ext>
            </a:extLst>
          </p:cNvPr>
          <p:cNvCxnSpPr>
            <a:cxnSpLocks/>
          </p:cNvCxnSpPr>
          <p:nvPr/>
        </p:nvCxnSpPr>
        <p:spPr>
          <a:xfrm rot="10800000" flipV="1">
            <a:off x="4785457" y="3838126"/>
            <a:ext cx="1310542" cy="808564"/>
          </a:xfrm>
          <a:prstGeom prst="bentConnector3">
            <a:avLst>
              <a:gd name="adj1" fmla="val 827"/>
            </a:avLst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F4E132A5-EF8E-4E7A-B54B-32DF8AAEF8E2}"/>
              </a:ext>
            </a:extLst>
          </p:cNvPr>
          <p:cNvSpPr/>
          <p:nvPr/>
        </p:nvSpPr>
        <p:spPr>
          <a:xfrm>
            <a:off x="6597479" y="4285114"/>
            <a:ext cx="4634753" cy="2271065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C0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b="1" dirty="0">
                <a:solidFill>
                  <a:srgbClr val="00B05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변수 기여도 분석</a:t>
            </a:r>
            <a:endParaRPr lang="en-US" altLang="ko-KR" b="1" dirty="0">
              <a:solidFill>
                <a:srgbClr val="00B05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500" b="1" dirty="0">
              <a:solidFill>
                <a:srgbClr val="00B05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분석 원리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: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입력 변수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(PM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농도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인프라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등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위험 등급 결정하는데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         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기여한 정도를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0~1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사이의 수치로 산출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원인 식별 </a:t>
            </a: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: 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기여도가 높은 입력 변수 식별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           </a:t>
            </a:r>
            <a:r>
              <a:rPr lang="ko-KR" altLang="en-US" sz="1100" dirty="0" err="1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도시별</a:t>
            </a:r>
            <a:r>
              <a:rPr lang="ko-KR" altLang="en-US" sz="11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주요 원인 분석 및 산출</a:t>
            </a:r>
            <a:endParaRPr lang="en-US" altLang="ko-KR" sz="11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cxnSp>
        <p:nvCxnSpPr>
          <p:cNvPr id="16" name="연결선: 꺾임 15">
            <a:extLst>
              <a:ext uri="{FF2B5EF4-FFF2-40B4-BE49-F238E27FC236}">
                <a16:creationId xmlns:a16="http://schemas.microsoft.com/office/drawing/2014/main" id="{8F9069D6-7163-497F-B33D-2FB88BD04133}"/>
              </a:ext>
            </a:extLst>
          </p:cNvPr>
          <p:cNvCxnSpPr>
            <a:cxnSpLocks/>
          </p:cNvCxnSpPr>
          <p:nvPr/>
        </p:nvCxnSpPr>
        <p:spPr>
          <a:xfrm rot="16200000" flipH="1">
            <a:off x="8421562" y="3965213"/>
            <a:ext cx="644230" cy="342357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1133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1552</TotalTime>
  <Words>259</Words>
  <Application>Microsoft Office PowerPoint</Application>
  <PresentationFormat>와이드스크린</PresentationFormat>
  <Paragraphs>52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8" baseType="lpstr">
      <vt:lpstr>HY견고딕</vt:lpstr>
      <vt:lpstr>맑은 고딕</vt:lpstr>
      <vt:lpstr>Arial</vt:lpstr>
      <vt:lpstr>Times New Roman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itbank403_15</dc:creator>
  <cp:lastModifiedBy>itbank403_15</cp:lastModifiedBy>
  <cp:revision>75</cp:revision>
  <dcterms:created xsi:type="dcterms:W3CDTF">2026-03-11T01:16:02Z</dcterms:created>
  <dcterms:modified xsi:type="dcterms:W3CDTF">2026-03-16T03:39:05Z</dcterms:modified>
</cp:coreProperties>
</file>