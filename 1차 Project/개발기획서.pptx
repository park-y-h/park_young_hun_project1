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61" r:id="rId2"/>
    <p:sldId id="258" r:id="rId3"/>
    <p:sldId id="263" r:id="rId4"/>
    <p:sldId id="264" r:id="rId5"/>
    <p:sldId id="265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85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9645016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517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33905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157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0604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5284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20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173983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47429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67861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22446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40607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4C6F726-890C-4237-86AF-8F370EE57126}"/>
              </a:ext>
            </a:extLst>
          </p:cNvPr>
          <p:cNvSpPr/>
          <p:nvPr/>
        </p:nvSpPr>
        <p:spPr>
          <a:xfrm>
            <a:off x="481853" y="1982450"/>
            <a:ext cx="1198132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2800" b="1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1</a:t>
            </a:r>
            <a:r>
              <a:rPr lang="ko-KR" altLang="en-US" sz="2800" b="1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차 </a:t>
            </a:r>
            <a:r>
              <a:rPr lang="en-US" altLang="ko-KR" sz="2800" b="1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Project</a:t>
            </a:r>
            <a:endParaRPr lang="ko-KR" altLang="en-US" sz="2800" b="1" dirty="0">
              <a:solidFill>
                <a:schemeClr val="bg1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endParaRPr lang="en-US" altLang="ko-KR" sz="3000" b="1" dirty="0">
              <a:solidFill>
                <a:srgbClr val="0070C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r>
              <a:rPr lang="ko-KR" altLang="en-US" sz="30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서울 미세먼지 안전 지도</a:t>
            </a:r>
            <a:endParaRPr lang="en-US" altLang="ko-KR" sz="3000" b="1" dirty="0">
              <a:solidFill>
                <a:srgbClr val="00206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9846CA-ECBE-41A0-BFEC-548E758D6B7C}"/>
              </a:ext>
            </a:extLst>
          </p:cNvPr>
          <p:cNvSpPr txBox="1"/>
          <p:nvPr/>
        </p:nvSpPr>
        <p:spPr>
          <a:xfrm>
            <a:off x="9529482" y="4437529"/>
            <a:ext cx="2052918" cy="8586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26.03.16</a:t>
            </a:r>
          </a:p>
          <a:p>
            <a:pPr algn="ctr">
              <a:lnSpc>
                <a:spcPct val="150000"/>
              </a:lnSpc>
            </a:pP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4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조 박영훈</a:t>
            </a:r>
          </a:p>
        </p:txBody>
      </p:sp>
    </p:spTree>
    <p:extLst>
      <p:ext uri="{BB962C8B-B14F-4D97-AF65-F5344CB8AC3E}">
        <p14:creationId xmlns:p14="http://schemas.microsoft.com/office/powerpoint/2010/main" val="19454849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A6562A-BC7B-439E-8184-F5D82C0A4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57602CD-DA65-42FB-B785-6A5F85DEB6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767" y="542319"/>
            <a:ext cx="231986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400" b="1" u="sng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맑은 고딕" panose="020B0503020000020004" pitchFamily="50" charset="-127"/>
                <a:ea typeface="HY견고딕" panose="02030600000101010101" pitchFamily="18" charset="-127"/>
                <a:cs typeface="Times New Roman" panose="02020603050405020304" pitchFamily="18" charset="0"/>
              </a:rPr>
              <a:t>기획 의도</a:t>
            </a:r>
            <a:r>
              <a:rPr kumimoji="0" lang="en-US" altLang="ko-KR" sz="2400" b="1" u="sng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맑은 고딕" panose="020B0503020000020004" pitchFamily="50" charset="-127"/>
                <a:ea typeface="HY견고딕" panose="02030600000101010101" pitchFamily="18" charset="-127"/>
                <a:cs typeface="Times New Roman" panose="02020603050405020304" pitchFamily="18" charset="0"/>
              </a:rPr>
              <a:t> (1/2)</a:t>
            </a:r>
            <a:endParaRPr kumimoji="0" lang="ko-KR" altLang="ko-KR" sz="1600" b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732A60-BC9A-4421-BD0A-8D6AA9A24E65}"/>
              </a:ext>
            </a:extLst>
          </p:cNvPr>
          <p:cNvSpPr txBox="1"/>
          <p:nvPr/>
        </p:nvSpPr>
        <p:spPr>
          <a:xfrm>
            <a:off x="663388" y="2435845"/>
            <a:ext cx="5432612" cy="2428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미세먼지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초미세먼지는</a:t>
            </a:r>
            <a:endParaRPr lang="en-US" altLang="ko-KR" sz="16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미세 중금속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황산화물이 섞인 </a:t>
            </a:r>
            <a:r>
              <a:rPr lang="en-US" altLang="ko-KR" sz="2000" b="1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1</a:t>
            </a:r>
            <a:r>
              <a:rPr lang="ko-KR" altLang="en-US" sz="2000" b="1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급 발암물질</a:t>
            </a:r>
            <a:endParaRPr lang="en-US" altLang="ko-KR" sz="1600" b="1" dirty="0">
              <a:solidFill>
                <a:srgbClr val="FF000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6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오래 노출될 경우 면역력이 급감하여</a:t>
            </a:r>
            <a:endParaRPr lang="en-US" altLang="ko-KR" sz="16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감기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천식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기관지염 등 </a:t>
            </a:r>
            <a:r>
              <a:rPr lang="ko-KR" altLang="en-US" b="1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호흡기 질환 유발</a:t>
            </a:r>
            <a:endParaRPr lang="en-US" altLang="ko-KR" b="1" dirty="0">
              <a:solidFill>
                <a:srgbClr val="FF000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b="1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조기 사망률 ↑</a:t>
            </a:r>
            <a:endParaRPr lang="en-US" altLang="ko-KR" b="1" dirty="0">
              <a:solidFill>
                <a:srgbClr val="FF000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5F1726-02DC-4830-9F13-0492EE7D705F}"/>
              </a:ext>
            </a:extLst>
          </p:cNvPr>
          <p:cNvSpPr txBox="1"/>
          <p:nvPr/>
        </p:nvSpPr>
        <p:spPr>
          <a:xfrm>
            <a:off x="1114535" y="1314081"/>
            <a:ext cx="4249271" cy="461665"/>
          </a:xfrm>
          <a:prstGeom prst="rect">
            <a:avLst/>
          </a:prstGeom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lstStyle/>
          <a:p>
            <a:pPr algn="ctr"/>
            <a:r>
              <a:rPr lang="ko-KR" altLang="ko-KR" sz="2400" b="1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미세먼지 피해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C91D125-5E4D-4D96-A82D-EA932E0D97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9818" y="4329623"/>
            <a:ext cx="4987682" cy="191984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727913A2-0F83-4B31-98F4-47D506F77D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047" y="1560554"/>
            <a:ext cx="4062453" cy="236382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37560E64-00A3-46D0-B1B6-DED3C13478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8264" y="1271677"/>
            <a:ext cx="5946029" cy="34744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236D1E5-7D92-4F32-A122-96E668220E4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7173" r="6608" b="19818"/>
          <a:stretch/>
        </p:blipFill>
        <p:spPr>
          <a:xfrm>
            <a:off x="5833204" y="3475049"/>
            <a:ext cx="3203359" cy="766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A6562A-BC7B-439E-8184-F5D82C0A4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57602CD-DA65-42FB-B785-6A5F85DEB6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767" y="542319"/>
            <a:ext cx="231986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400" b="1" u="sng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맑은 고딕" panose="020B0503020000020004" pitchFamily="50" charset="-127"/>
                <a:ea typeface="HY견고딕" panose="02030600000101010101" pitchFamily="18" charset="-127"/>
                <a:cs typeface="Times New Roman" panose="02020603050405020304" pitchFamily="18" charset="0"/>
              </a:rPr>
              <a:t>기획 의도</a:t>
            </a:r>
            <a:r>
              <a:rPr kumimoji="0" lang="en-US" altLang="ko-KR" sz="2400" b="1" u="sng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맑은 고딕" panose="020B0503020000020004" pitchFamily="50" charset="-127"/>
                <a:ea typeface="HY견고딕" panose="02030600000101010101" pitchFamily="18" charset="-127"/>
                <a:cs typeface="Times New Roman" panose="02020603050405020304" pitchFamily="18" charset="0"/>
              </a:rPr>
              <a:t> (2/2)</a:t>
            </a:r>
            <a:endParaRPr kumimoji="0" lang="ko-KR" altLang="ko-KR" sz="1600" b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732A60-BC9A-4421-BD0A-8D6AA9A24E65}"/>
              </a:ext>
            </a:extLst>
          </p:cNvPr>
          <p:cNvSpPr txBox="1"/>
          <p:nvPr/>
        </p:nvSpPr>
        <p:spPr>
          <a:xfrm>
            <a:off x="663388" y="2328269"/>
            <a:ext cx="5432612" cy="15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미세먼지 농도가 낮아지면 안전하다고 인지</a:t>
            </a:r>
            <a:endParaRPr lang="en-US" altLang="ko-KR" sz="16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6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그러나 미세먼지는 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2~3</a:t>
            </a: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일이 지나도록 배출 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X</a:t>
            </a:r>
          </a:p>
          <a:p>
            <a:pPr algn="ctr">
              <a:lnSpc>
                <a:spcPct val="150000"/>
              </a:lnSpc>
            </a:pPr>
            <a:r>
              <a:rPr lang="en-US" altLang="ko-KR" sz="2000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2~3 </a:t>
            </a:r>
            <a:r>
              <a:rPr lang="ko-KR" altLang="en-US" sz="2000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일 뒤에도 호흡기 환자 발생</a:t>
            </a:r>
            <a:endParaRPr lang="en-US" altLang="ko-KR" sz="2000" dirty="0">
              <a:solidFill>
                <a:srgbClr val="FF000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5F1726-02DC-4830-9F13-0492EE7D705F}"/>
              </a:ext>
            </a:extLst>
          </p:cNvPr>
          <p:cNvSpPr txBox="1"/>
          <p:nvPr/>
        </p:nvSpPr>
        <p:spPr>
          <a:xfrm>
            <a:off x="1114535" y="1314081"/>
            <a:ext cx="4249271" cy="461665"/>
          </a:xfrm>
          <a:prstGeom prst="rect">
            <a:avLst/>
          </a:prstGeom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lstStyle/>
          <a:p>
            <a:pPr algn="ctr"/>
            <a:r>
              <a:rPr lang="ko-KR" altLang="en-US" sz="2400" b="1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미세먼지 질환 발병</a:t>
            </a:r>
            <a:endParaRPr lang="ko-KR" altLang="ko-KR" sz="2400" b="1" dirty="0">
              <a:solidFill>
                <a:srgbClr val="7030A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9CDAC5E-B0F3-4258-AAF1-65467D01B1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9436" y="2492928"/>
            <a:ext cx="5616497" cy="988191"/>
          </a:xfrm>
          <a:prstGeom prst="rect">
            <a:avLst/>
          </a:prstGeom>
        </p:spPr>
      </p:pic>
      <p:sp>
        <p:nvSpPr>
          <p:cNvPr id="12" name="화살표: 아래쪽 11">
            <a:extLst>
              <a:ext uri="{FF2B5EF4-FFF2-40B4-BE49-F238E27FC236}">
                <a16:creationId xmlns:a16="http://schemas.microsoft.com/office/drawing/2014/main" id="{7339EA22-3880-48EB-AD3F-403D1BA41F9A}"/>
              </a:ext>
            </a:extLst>
          </p:cNvPr>
          <p:cNvSpPr/>
          <p:nvPr/>
        </p:nvSpPr>
        <p:spPr>
          <a:xfrm>
            <a:off x="5820335" y="4147741"/>
            <a:ext cx="551330" cy="646332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2D6B11-8BEE-43FE-9FC1-87EDD155B498}"/>
              </a:ext>
            </a:extLst>
          </p:cNvPr>
          <p:cNvSpPr txBox="1"/>
          <p:nvPr/>
        </p:nvSpPr>
        <p:spPr>
          <a:xfrm>
            <a:off x="2021541" y="5085716"/>
            <a:ext cx="8148918" cy="9164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미세먼지 발생 후 지속되는 </a:t>
            </a:r>
            <a:r>
              <a:rPr lang="ko-KR" altLang="en-US" sz="2400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위험성 인지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 필요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200000"/>
              </a:lnSpc>
            </a:pP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지역별 위험성 등급을 지도에 직관적으로 표현하여 위험성 인지 및 피해 예방</a:t>
            </a:r>
          </a:p>
        </p:txBody>
      </p:sp>
    </p:spTree>
    <p:extLst>
      <p:ext uri="{BB962C8B-B14F-4D97-AF65-F5344CB8AC3E}">
        <p14:creationId xmlns:p14="http://schemas.microsoft.com/office/powerpoint/2010/main" val="4016398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A6562A-BC7B-439E-8184-F5D82C0A4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57602CD-DA65-42FB-B785-6A5F85DEB6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767" y="542319"/>
            <a:ext cx="149912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2400" b="1" u="sng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맑은 고딕" panose="020B0503020000020004" pitchFamily="50" charset="-127"/>
                <a:ea typeface="HY견고딕" panose="02030600000101010101" pitchFamily="18" charset="-127"/>
                <a:cs typeface="Times New Roman" panose="02020603050405020304" pitchFamily="18" charset="0"/>
              </a:rPr>
              <a:t>개발 목표</a:t>
            </a:r>
            <a:endParaRPr kumimoji="0" lang="ko-KR" altLang="ko-KR" sz="1600" b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3895275-0CF7-4138-B7EB-2451A1550ECC}"/>
              </a:ext>
            </a:extLst>
          </p:cNvPr>
          <p:cNvSpPr/>
          <p:nvPr/>
        </p:nvSpPr>
        <p:spPr>
          <a:xfrm>
            <a:off x="4881550" y="2162463"/>
            <a:ext cx="3144059" cy="3850978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ko-KR" altLang="en-US" sz="24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프로그램 개발</a:t>
            </a:r>
            <a:endParaRPr lang="en-US" altLang="ko-KR" sz="1500" b="1" dirty="0">
              <a:solidFill>
                <a:srgbClr val="00206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endParaRPr lang="en-US" altLang="ko-KR" sz="500" b="1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endParaRPr lang="en-US" altLang="ko-KR" sz="1600" b="1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미세먼지와 지역별 상황을 분석하여 지역 위험 등급을 분류하는 프로그램 개발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b="1" dirty="0">
                <a:solidFill>
                  <a:srgbClr val="7030A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위험등급</a:t>
            </a:r>
            <a:r>
              <a:rPr lang="en-US" altLang="ko-KR" b="1" dirty="0">
                <a:solidFill>
                  <a:srgbClr val="7030A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4</a:t>
            </a:r>
            <a:r>
              <a:rPr lang="ko-KR" altLang="en-US" b="1" dirty="0">
                <a:solidFill>
                  <a:srgbClr val="7030A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단계</a:t>
            </a:r>
            <a:endParaRPr lang="en-US" altLang="ko-KR" b="1" dirty="0">
              <a:solidFill>
                <a:srgbClr val="7030A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안전</a:t>
            </a:r>
            <a:r>
              <a:rPr lang="en-US" altLang="ko-KR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보통</a:t>
            </a:r>
            <a:r>
              <a:rPr lang="en-US" altLang="ko-KR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민감</a:t>
            </a:r>
            <a:r>
              <a:rPr lang="en-US" altLang="ko-KR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고위험</a:t>
            </a:r>
            <a:r>
              <a:rPr lang="en-US" altLang="ko-KR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endParaRPr lang="en-US" altLang="ko-KR" sz="15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D3B546-EFAF-4150-9728-8A86A8D056AB}"/>
              </a:ext>
            </a:extLst>
          </p:cNvPr>
          <p:cNvSpPr txBox="1"/>
          <p:nvPr/>
        </p:nvSpPr>
        <p:spPr>
          <a:xfrm>
            <a:off x="829767" y="1213892"/>
            <a:ext cx="7682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서울시 지도를 이용하여 지역별 위험등급을 시각적으로 표현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BA9573C6-7A88-4C21-B47F-7BC8EBDB448E}"/>
              </a:ext>
            </a:extLst>
          </p:cNvPr>
          <p:cNvSpPr/>
          <p:nvPr/>
        </p:nvSpPr>
        <p:spPr>
          <a:xfrm>
            <a:off x="1291451" y="2162463"/>
            <a:ext cx="3144059" cy="3850978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ko-KR" altLang="en-US" sz="24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데이터 통합</a:t>
            </a:r>
          </a:p>
          <a:p>
            <a:pPr algn="ctr"/>
            <a:endParaRPr lang="en-US" altLang="ko-KR" sz="1600" b="1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최근 </a:t>
            </a:r>
            <a:r>
              <a:rPr lang="en-US" altLang="ko-KR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10</a:t>
            </a: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년 데이터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기온</a:t>
            </a:r>
            <a:r>
              <a:rPr lang="en-US" altLang="ko-KR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미세먼지 농도</a:t>
            </a:r>
            <a:r>
              <a:rPr lang="en-US" altLang="ko-KR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소득 수준</a:t>
            </a:r>
            <a:r>
              <a:rPr lang="en-US" altLang="ko-KR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취약계층 비율 등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DB</a:t>
            </a: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구축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ko-KR" altLang="en-US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FA9B2D2-A0F3-4D54-8009-6A94B267D3F9}"/>
              </a:ext>
            </a:extLst>
          </p:cNvPr>
          <p:cNvSpPr/>
          <p:nvPr/>
        </p:nvSpPr>
        <p:spPr>
          <a:xfrm>
            <a:off x="8471649" y="2162463"/>
            <a:ext cx="3144059" cy="3850978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ko-KR" altLang="en-US" sz="24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서비스 제공</a:t>
            </a:r>
            <a:endParaRPr lang="en-US" altLang="ko-KR" sz="2400" b="1" dirty="0">
              <a:solidFill>
                <a:srgbClr val="00206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endParaRPr lang="en-US" altLang="ko-KR" sz="1600" b="1" dirty="0">
              <a:solidFill>
                <a:srgbClr val="00206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서울 지도 기반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지역별 위험 등급을 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직관적으로 확인하고</a:t>
            </a:r>
            <a:r>
              <a:rPr lang="en-US" altLang="ko-KR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등급별 안전 행동 지침 및 상세 원인을 분석하는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웹 서비스 제공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4090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C36D2E-F564-468A-9A3F-37F38B75DBD2}"/>
              </a:ext>
            </a:extLst>
          </p:cNvPr>
          <p:cNvSpPr txBox="1"/>
          <p:nvPr/>
        </p:nvSpPr>
        <p:spPr>
          <a:xfrm>
            <a:off x="3886200" y="3167390"/>
            <a:ext cx="51502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200906040"/>
      </p:ext>
    </p:extLst>
  </p:cSld>
  <p:clrMapOvr>
    <a:masterClrMapping/>
  </p:clrMapOvr>
</p:sld>
</file>

<file path=ppt/theme/theme1.xml><?xml version="1.0" encoding="utf-8"?>
<a:theme xmlns:a="http://schemas.openxmlformats.org/drawingml/2006/main" name="자르기">
  <a:themeElements>
    <a:clrScheme name="회색조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자르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자르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2153</TotalTime>
  <Words>167</Words>
  <Application>Microsoft Office PowerPoint</Application>
  <PresentationFormat>와이드스크린</PresentationFormat>
  <Paragraphs>45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2" baseType="lpstr">
      <vt:lpstr>HY견고딕</vt:lpstr>
      <vt:lpstr>돋움</vt:lpstr>
      <vt:lpstr>맑은 고딕</vt:lpstr>
      <vt:lpstr>Arial</vt:lpstr>
      <vt:lpstr>Franklin Gothic Book</vt:lpstr>
      <vt:lpstr>Times New Roman</vt:lpstr>
      <vt:lpstr>자르기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itbank403_15</dc:creator>
  <cp:lastModifiedBy>itbank403_15</cp:lastModifiedBy>
  <cp:revision>132</cp:revision>
  <dcterms:created xsi:type="dcterms:W3CDTF">2026-03-11T01:16:02Z</dcterms:created>
  <dcterms:modified xsi:type="dcterms:W3CDTF">2026-03-18T05:29:27Z</dcterms:modified>
</cp:coreProperties>
</file>